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61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34587" autoAdjust="0"/>
    <p:restoredTop sz="94622" autoAdjust="0"/>
  </p:normalViewPr>
  <p:slideViewPr>
    <p:cSldViewPr>
      <p:cViewPr varScale="1">
        <p:scale>
          <a:sx n="110" d="100"/>
          <a:sy n="110" d="100"/>
        </p:scale>
        <p:origin x="-1644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IN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layout/>
      <c:overlay val="0"/>
    </c:title>
    <c:autoTitleDeleted val="0"/>
    <c:plotArea>
      <c:layout>
        <c:manualLayout>
          <c:layoutTarget val="inner"/>
          <c:xMode val="edge"/>
          <c:yMode val="edge"/>
          <c:x val="0.12488310488966657"/>
          <c:y val="0.13416338120658144"/>
          <c:w val="0.61651295324195587"/>
          <c:h val="0.73633168197188426"/>
        </c:manualLayout>
      </c:layou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 profit in millions</c:v>
                </c:pt>
              </c:strCache>
            </c:strRef>
          </c:tx>
          <c:marker>
            <c:symbol val="none"/>
          </c:marker>
          <c:cat>
            <c:numRef>
              <c:f>Sheet1!$A$2:$A$7</c:f>
              <c:numCache>
                <c:formatCode>General</c:formatCode>
                <c:ptCount val="6"/>
                <c:pt idx="0">
                  <c:v>2016</c:v>
                </c:pt>
                <c:pt idx="1">
                  <c:v>2017</c:v>
                </c:pt>
                <c:pt idx="2">
                  <c:v>2018</c:v>
                </c:pt>
                <c:pt idx="3">
                  <c:v>2019</c:v>
                </c:pt>
                <c:pt idx="4">
                  <c:v>2020</c:v>
                </c:pt>
                <c:pt idx="5">
                  <c:v>2021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4.1100000000000003</c:v>
                </c:pt>
                <c:pt idx="1">
                  <c:v>4.34</c:v>
                </c:pt>
                <c:pt idx="2">
                  <c:v>7.46</c:v>
                </c:pt>
                <c:pt idx="3">
                  <c:v>10.7</c:v>
                </c:pt>
                <c:pt idx="4">
                  <c:v>5.45</c:v>
                </c:pt>
                <c:pt idx="5">
                  <c:v>0.61</c:v>
                </c:pt>
              </c:numCache>
            </c:numRef>
          </c:val>
          <c:smooth val="0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56330368"/>
        <c:axId val="256337024"/>
      </c:lineChart>
      <c:catAx>
        <c:axId val="25633036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256337024"/>
        <c:crosses val="autoZero"/>
        <c:auto val="1"/>
        <c:lblAlgn val="ctr"/>
        <c:lblOffset val="100"/>
        <c:noMultiLvlLbl val="0"/>
      </c:catAx>
      <c:valAx>
        <c:axId val="256337024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256330368"/>
        <c:crosses val="autoZero"/>
        <c:crossBetween val="between"/>
      </c:valAx>
    </c:plotArea>
    <c:legend>
      <c:legendPos val="r"/>
      <c:layout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C17A59-E048-44CB-BC89-CE3CECF750AA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6DA361-E7EE-4A69-8842-3C8345A57BF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4066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6DA361-E7EE-4A69-8842-3C8345A57BF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73089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 smtClean="0"/>
              <a:t>2017: +5.6%, 2018: +72.1%, 2019: +43.3%, 2020: -49.1%, 2021: -88.8%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96DA361-E7EE-4A69-8842-3C8345A57BF4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6410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7F8CB-C86E-439F-84DA-067FA80246AC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345440" y="2942602"/>
            <a:ext cx="7147931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572652" y="2944634"/>
            <a:ext cx="1190348" cy="2459736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7712714" y="3136658"/>
            <a:ext cx="910224" cy="2075688"/>
          </a:xfrm>
          <a:prstGeom prst="rect">
            <a:avLst/>
          </a:prstGeom>
          <a:solidFill>
            <a:schemeClr val="accent3">
              <a:alpha val="70000"/>
            </a:schemeClr>
          </a:solidFill>
          <a:ln w="6350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445483" y="3055621"/>
            <a:ext cx="6947845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86826" y="4625268"/>
            <a:ext cx="762000" cy="457200"/>
          </a:xfrm>
        </p:spPr>
        <p:txBody>
          <a:bodyPr/>
          <a:lstStyle>
            <a:lvl1pPr algn="ctr">
              <a:defRPr sz="28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CC41E275-BE79-4A10-BF29-EDE208A0339C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541822" y="4559276"/>
            <a:ext cx="6755166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38971" y="3139440"/>
            <a:ext cx="6760868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42805" y="4648200"/>
            <a:ext cx="6553200" cy="457200"/>
          </a:xfrm>
        </p:spPr>
        <p:txBody>
          <a:bodyPr>
            <a:normAutofit/>
          </a:bodyPr>
          <a:lstStyle>
            <a:lvl1pPr marL="0" indent="0" algn="ctr">
              <a:buNone/>
              <a:defRPr sz="1800" cap="all" spc="300" baseline="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4705" y="3227033"/>
            <a:ext cx="6629400" cy="1219201"/>
          </a:xfrm>
        </p:spPr>
        <p:txBody>
          <a:bodyPr anchor="b" anchorCtr="0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7F8CB-C86E-439F-84DA-067FA80246AC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1E275-BE79-4A10-BF29-EDE208A033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8" name="Rounded Rectangle 7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7F8CB-C86E-439F-84DA-067FA80246AC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451976" y="2946400"/>
            <a:ext cx="8265160" cy="24638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67656" y="3048000"/>
            <a:ext cx="8033800" cy="2245359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1E275-BE79-4A10-BF29-EDE208A0339C}" type="slidenum">
              <a:rPr lang="en-IN" smtClean="0"/>
              <a:t>‹#›</a:t>
            </a:fld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36456" y="3200399"/>
            <a:ext cx="7696200" cy="1295401"/>
          </a:xfrm>
        </p:spPr>
        <p:txBody>
          <a:bodyPr anchor="b" anchorCtr="0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lang="en-US" sz="4000" kern="1200" cap="all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5" name="Rectangle 14"/>
          <p:cNvSpPr/>
          <p:nvPr/>
        </p:nvSpPr>
        <p:spPr>
          <a:xfrm>
            <a:off x="675496" y="4541520"/>
            <a:ext cx="7818120" cy="664367"/>
          </a:xfrm>
          <a:prstGeom prst="rect">
            <a:avLst/>
          </a:prstGeom>
          <a:solidFill>
            <a:schemeClr val="accent1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6456" y="4607510"/>
            <a:ext cx="7696200" cy="523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75757" y="3124200"/>
            <a:ext cx="7817599" cy="2077720"/>
          </a:xfrm>
          <a:prstGeom prst="rect">
            <a:avLst/>
          </a:prstGeom>
          <a:noFill/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26128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19071"/>
            <a:ext cx="4038600" cy="440740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7F8CB-C86E-439F-84DA-067FA80246AC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1E275-BE79-4A10-BF29-EDE208A033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26128" y="1722438"/>
            <a:ext cx="4040188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6128" y="2438400"/>
            <a:ext cx="4040188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722438"/>
            <a:ext cx="4041775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38400"/>
            <a:ext cx="4041775" cy="3687762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7F8CB-C86E-439F-84DA-067FA80246AC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1E275-BE79-4A10-BF29-EDE208A033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7F8CB-C86E-439F-84DA-067FA80246AC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1E275-BE79-4A10-BF29-EDE208A033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ounded Rectangle 10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7F8CB-C86E-439F-84DA-067FA80246AC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1E275-BE79-4A10-BF29-EDE208A033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Rounded Rectangle 11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6200" y="685800"/>
            <a:ext cx="4572000" cy="525780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7F8CB-C86E-439F-84DA-067FA80246AC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1E275-BE79-4A10-BF29-EDE208A0339C}" type="slidenum">
              <a:rPr lang="en-IN" smtClean="0"/>
              <a:t>‹#›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560034" y="1505712"/>
            <a:ext cx="2716566" cy="3523488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676690" y="1642472"/>
            <a:ext cx="2483254" cy="3234328"/>
          </a:xfrm>
          <a:prstGeom prst="rect">
            <a:avLst/>
          </a:prstGeom>
          <a:solidFill>
            <a:srgbClr val="FFFFFF"/>
          </a:solidFill>
          <a:ln w="6350" cmpd="dbl"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9000" y="2971800"/>
            <a:ext cx="2298634" cy="1752600"/>
          </a:xfrm>
        </p:spPr>
        <p:txBody>
          <a:bodyPr/>
          <a:lstStyle>
            <a:lvl1pPr marL="0" indent="0">
              <a:spcBef>
                <a:spcPts val="400"/>
              </a:spcBef>
              <a:buNone/>
              <a:defRPr sz="140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9000" y="1734312"/>
            <a:ext cx="2298634" cy="1191620"/>
          </a:xfrm>
        </p:spPr>
        <p:txBody>
          <a:bodyPr anchor="b">
            <a:normAutofit/>
          </a:bodyPr>
          <a:lstStyle>
            <a:lvl1pPr algn="l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Rounded Rectangle 8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685800" y="621437"/>
            <a:ext cx="7772400" cy="4331564"/>
          </a:xfrm>
          <a:solidFill>
            <a:schemeClr val="bg2"/>
          </a:solidFill>
          <a:ln>
            <a:noFill/>
          </a:ln>
          <a:effectLst>
            <a:softEdge rad="12700"/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7F8CB-C86E-439F-84DA-067FA80246AC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1E275-BE79-4A10-BF29-EDE208A0339C}" type="slidenum">
              <a:rPr lang="en-IN" smtClean="0"/>
              <a:t>‹#›</a:t>
            </a:fld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685800" y="4953000"/>
            <a:ext cx="7772400" cy="137160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61999" y="5029200"/>
            <a:ext cx="7600765" cy="1202924"/>
          </a:xfrm>
          <a:prstGeom prst="rect">
            <a:avLst/>
          </a:prstGeom>
          <a:solidFill>
            <a:srgbClr val="FFFFFF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914400" y="5638800"/>
            <a:ext cx="7328514" cy="451696"/>
          </a:xfrm>
          <a:prstGeom prst="rect">
            <a:avLst/>
          </a:prstGeom>
          <a:solidFill>
            <a:schemeClr val="accent1"/>
          </a:solidFill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05589" y="5074920"/>
            <a:ext cx="7946136" cy="1097280"/>
          </a:xfrm>
          <a:prstGeom prst="rect">
            <a:avLst/>
          </a:prstGeom>
          <a:noFill/>
          <a:ln w="6350" cmpd="dbl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56289" y="5656556"/>
            <a:ext cx="7244736" cy="40171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500" cap="all" spc="250" baseline="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105400"/>
            <a:ext cx="7328514" cy="523043"/>
          </a:xfrm>
        </p:spPr>
        <p:txBody>
          <a:bodyPr anchor="ctr" anchorCtr="0"/>
          <a:lstStyle>
            <a:lvl1pPr algn="ctr">
              <a:defRPr sz="2000" b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7F8CB-C86E-439F-84DA-067FA80246AC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1E275-BE79-4A10-BF29-EDE208A033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61702" y="228600"/>
            <a:ext cx="1859280" cy="6122634"/>
          </a:xfrm>
          <a:prstGeom prst="rect">
            <a:avLst/>
          </a:prstGeom>
          <a:solidFill>
            <a:srgbClr val="FFFFFF">
              <a:alpha val="85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955225" y="351409"/>
            <a:ext cx="1672235" cy="587701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48577" y="395427"/>
            <a:ext cx="1485531" cy="578898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0999"/>
            <a:ext cx="6172200" cy="57912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17F8CB-C86E-439F-84DA-067FA80246AC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41E275-BE79-4A10-BF29-EDE208A0339C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7" name="Rounded Rectangle 6"/>
          <p:cNvSpPr/>
          <p:nvPr/>
        </p:nvSpPr>
        <p:spPr>
          <a:xfrm>
            <a:off x="91440" y="101600"/>
            <a:ext cx="8961120" cy="6664960"/>
          </a:xfrm>
          <a:prstGeom prst="roundRect">
            <a:avLst>
              <a:gd name="adj" fmla="val 1735"/>
            </a:avLst>
          </a:prstGeom>
          <a:ln w="12700" cmpd="sng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52600"/>
            <a:ext cx="8229600" cy="43735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2"/>
                </a:solidFill>
              </a:defRPr>
            </a:lvl1pPr>
          </a:lstStyle>
          <a:p>
            <a:fld id="{4C17F8CB-C86E-439F-84DA-067FA80246AC}" type="datetimeFigureOut">
              <a:rPr lang="en-IN" smtClean="0"/>
              <a:t>16-10-2024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2"/>
                </a:solidFill>
              </a:defRPr>
            </a:lvl1pPr>
          </a:lstStyle>
          <a:p>
            <a:fld id="{CC41E275-BE79-4A10-BF29-EDE208A0339C}" type="slidenum">
              <a:rPr lang="en-IN" smtClean="0"/>
              <a:t>‹#›</a:t>
            </a:fld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274320" y="278166"/>
            <a:ext cx="8595360" cy="1325880"/>
          </a:xfrm>
          <a:prstGeom prst="rect">
            <a:avLst/>
          </a:prstGeom>
          <a:solidFill>
            <a:srgbClr val="FFFFFF">
              <a:alpha val="83000"/>
            </a:srgbClr>
          </a:solidFill>
          <a:ln>
            <a:noFill/>
          </a:ln>
          <a:effectLst>
            <a:softEdge rad="127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72863" y="372862"/>
            <a:ext cx="8380520" cy="1118587"/>
          </a:xfrm>
          <a:prstGeom prst="rect">
            <a:avLst/>
          </a:prstGeom>
          <a:solidFill>
            <a:srgbClr val="FFFFFF"/>
          </a:solidFill>
          <a:ln w="63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26128" y="408372"/>
            <a:ext cx="8260672" cy="10394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3500" kern="1200" cap="all" baseline="0">
          <a:solidFill>
            <a:schemeClr val="accent1">
              <a:lumMod val="75000"/>
            </a:schemeClr>
          </a:solidFill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219456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37744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Comprehensive Insights &amp; SQL-based Profit Trends</a:t>
            </a:r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Sales Records and Profit Analysis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1529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Sales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Total sales spread across countries like the United States, Germany, and the UK.</a:t>
            </a:r>
          </a:p>
          <a:p>
            <a:r>
              <a:rPr lang="en-US" dirty="0"/>
              <a:t>• Major revenue generated from product categories like Computers, Digital Cameras, and Phones.</a:t>
            </a:r>
          </a:p>
          <a:p>
            <a:r>
              <a:rPr lang="en-US" dirty="0"/>
              <a:t>• Both online and offline channels contribute to overall sales performance.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1768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Customer 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• Gender Distribution:</a:t>
            </a:r>
          </a:p>
          <a:p>
            <a:r>
              <a:rPr lang="en-US" dirty="0"/>
              <a:t>    - Male: 50.75%</a:t>
            </a:r>
          </a:p>
          <a:p>
            <a:r>
              <a:rPr lang="en-US" dirty="0"/>
              <a:t>    - Female: 49.25%</a:t>
            </a:r>
          </a:p>
          <a:p>
            <a:r>
              <a:rPr lang="en-US" dirty="0"/>
              <a:t>• Age Groups:</a:t>
            </a:r>
          </a:p>
          <a:p>
            <a:r>
              <a:rPr lang="en-US" dirty="0"/>
              <a:t>    - Senior: 41%</a:t>
            </a:r>
          </a:p>
          <a:p>
            <a:r>
              <a:rPr lang="en-US" dirty="0"/>
              <a:t>    - Middle-Aged: 36%</a:t>
            </a:r>
          </a:p>
          <a:p>
            <a:r>
              <a:rPr lang="en-US" dirty="0"/>
              <a:t>    - Adults: 23%</a:t>
            </a:r>
          </a:p>
          <a:p>
            <a:r>
              <a:rPr lang="en-US" dirty="0"/>
              <a:t>• Customer engagement: Spread across online and store channels.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34524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Year-wise Profit Trends (2016–2021)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1150135"/>
              </p:ext>
            </p:extLst>
          </p:nvPr>
        </p:nvGraphicFramePr>
        <p:xfrm>
          <a:off x="457200" y="1752600"/>
          <a:ext cx="8229600" cy="437356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303812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SQL Query: Year-wise Profit Calculation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WITH YEARLY_PROFIT AS (</a:t>
            </a:r>
          </a:p>
          <a:p>
            <a:r>
              <a:rPr lang="en-US" dirty="0"/>
              <a:t>  SELECT YEAR(ORDER_DATE) AS YEAR, </a:t>
            </a:r>
          </a:p>
          <a:p>
            <a:r>
              <a:rPr lang="en-US" dirty="0"/>
              <a:t>  SUM((UNIT_PRICE_USD * QUANTITY) - (UNIT_COST_USD * QUANTITY)) AS CURRENT_PROFIT</a:t>
            </a:r>
          </a:p>
          <a:p>
            <a:r>
              <a:rPr lang="en-US" dirty="0"/>
              <a:t>  FROM SALES_RECORDS.PRODUCT_RECORDS PR</a:t>
            </a:r>
          </a:p>
          <a:p>
            <a:r>
              <a:rPr lang="en-US" dirty="0"/>
              <a:t>  JOIN SALES_RECORDS.SALES_RECORDS SR ON PR.PRODUCTKEY = SR.PRODUCTKEY</a:t>
            </a:r>
          </a:p>
          <a:p>
            <a:r>
              <a:rPr lang="en-US" dirty="0"/>
              <a:t>  GROUP BY YEAR</a:t>
            </a:r>
          </a:p>
          <a:p>
            <a:r>
              <a:rPr lang="en-US" dirty="0"/>
              <a:t>)</a:t>
            </a:r>
          </a:p>
          <a:p>
            <a:r>
              <a:rPr lang="en-US" dirty="0"/>
              <a:t>SELECT YEAR, CURRENT_PROFIT,</a:t>
            </a:r>
          </a:p>
          <a:p>
            <a:r>
              <a:rPr lang="en-US" dirty="0"/>
              <a:t>  LAG(CURRENT_PROFIT) OVER (ORDER BY YEAR) AS PREVIOUS_PROFIT,</a:t>
            </a:r>
          </a:p>
          <a:p>
            <a:r>
              <a:rPr lang="en-US" dirty="0"/>
              <a:t>  ROUND((CURRENT_PROFIT - LAG(CURRENT_PROFIT) OVER (ORDER BY YEAR)) / </a:t>
            </a:r>
          </a:p>
          <a:p>
            <a:r>
              <a:rPr lang="en-US" dirty="0"/>
              <a:t>  LAG(CURRENT_PROFIT) OVER (ORDER BY YEAR) * 100, 2) AS PROFIT_PERCENTAGE</a:t>
            </a:r>
          </a:p>
          <a:p>
            <a:r>
              <a:rPr lang="en-US" dirty="0"/>
              <a:t>FROM YEARLY_PROFIT</a:t>
            </a:r>
          </a:p>
          <a:p>
            <a:r>
              <a:rPr lang="en-US" dirty="0"/>
              <a:t>ORDER BY YEAR;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462295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pothecary">
  <a:themeElements>
    <a:clrScheme name="Apothecary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F543F"/>
      </a:accent2>
      <a:accent3>
        <a:srgbClr val="B5AE53"/>
      </a:accent3>
      <a:accent4>
        <a:srgbClr val="848058"/>
      </a:accent4>
      <a:accent5>
        <a:srgbClr val="E8B54D"/>
      </a:accent5>
      <a:accent6>
        <a:srgbClr val="786C71"/>
      </a:accent6>
      <a:hlink>
        <a:srgbClr val="CCCC00"/>
      </a:hlink>
      <a:folHlink>
        <a:srgbClr val="B2B2B2"/>
      </a:folHlink>
    </a:clrScheme>
    <a:fontScheme name="Apothecary">
      <a:majorFont>
        <a:latin typeface="Book Antiqua"/>
        <a:ea typeface=""/>
        <a:cs typeface=""/>
        <a:font script="Jpan" typeface="HGS明朝B"/>
        <a:font script="Hang" typeface="HY견명조"/>
        <a:font script="Hans" typeface="宋体"/>
        <a:font script="Hant" typeface="新細明體"/>
        <a:font script="Arab" typeface="Times New Roman"/>
        <a:font script="Hebr" typeface="David"/>
        <a:font script="Thai" typeface="Eucrosia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견명조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3000"/>
            <a:satMod val="14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atMod val="170000"/>
              </a:schemeClr>
              <a:schemeClr val="phClr">
                <a:shade val="70000"/>
                <a:satMod val="13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Apothecary</Template>
  <TotalTime>21</TotalTime>
  <Words>248</Words>
  <Application>Microsoft Office PowerPoint</Application>
  <PresentationFormat>On-screen Show (4:3)</PresentationFormat>
  <Paragraphs>34</Paragraphs>
  <Slides>5</Slides>
  <Notes>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Apothecary</vt:lpstr>
      <vt:lpstr>Sales Records and Profit Analysis</vt:lpstr>
      <vt:lpstr>Sales Overview</vt:lpstr>
      <vt:lpstr>Customer Segmentation</vt:lpstr>
      <vt:lpstr>Year-wise Profit Trends (2016–2021)</vt:lpstr>
      <vt:lpstr>SQL Query: Year-wise Profit Calculation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Records and Profit Analysis</dc:title>
  <dc:creator>admin</dc:creator>
  <cp:lastModifiedBy>admin</cp:lastModifiedBy>
  <cp:revision>3</cp:revision>
  <dcterms:created xsi:type="dcterms:W3CDTF">2024-10-16T15:03:00Z</dcterms:created>
  <dcterms:modified xsi:type="dcterms:W3CDTF">2024-10-16T15:24:02Z</dcterms:modified>
</cp:coreProperties>
</file>